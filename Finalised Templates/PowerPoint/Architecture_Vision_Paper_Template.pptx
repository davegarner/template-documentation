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3" r:id="rId5"/>
    <p:sldMasterId id="2147483676" r:id="rId6"/>
  </p:sldMasterIdLst>
  <p:notesMasterIdLst>
    <p:notesMasterId r:id="rId23"/>
  </p:notesMasterIdLst>
  <p:sldIdLst>
    <p:sldId id="257" r:id="rId7"/>
    <p:sldId id="258" r:id="rId8"/>
    <p:sldId id="259" r:id="rId9"/>
    <p:sldId id="260" r:id="rId10"/>
    <p:sldId id="261" r:id="rId29"/>
    <p:sldId id="262" r:id="rId30"/>
    <p:sldId id="263" r:id="rId31"/>
    <p:sldId id="264" r:id="rId37"/>
    <p:sldId id="265" r:id="rId16"/>
    <p:sldId id="266" r:id="rId32"/>
    <p:sldId id="267" r:id="rId33"/>
    <p:sldId id="268" r:id="rId38"/>
    <p:sldId id="269" r:id="rId34"/>
    <p:sldId id="270" r:id="rId35"/>
    <p:sldId id="271" r:id="rId36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FF56"/>
    <a:srgbClr val="FFFFCC"/>
    <a:srgbClr val="FF7C80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7" Type="http://schemas.openxmlformats.org/officeDocument/2006/relationships/tableStyles" Target="tableStyles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2EC-2A61-4F4D-8DC4-BA287447E982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FEE7C-B619-407F-AB56-78E1EEBAE23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20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222976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emf"/><Relationship Id="rId5" Type="http://schemas.openxmlformats.org/officeDocument/2006/relationships/image" Target="../media/image3.emf"/><Relationship Id="rId4" Type="http://schemas.openxmlformats.org/officeDocument/2006/relationships/image" Target="../media/image7.emf"/></Relationships>
</file>

<file path=ppt/slideLayouts/_rels/slideLayout16.xml.rels><?xml version="1.0" encoding="UTF-8"?>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1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8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emf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5.jpeg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?>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8.emf"/></Relationships>
</file>

<file path=ppt/slideLayouts/_rels/slideLayout23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9.jpeg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?>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7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?>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5D2C-D0CC-42E8-9949-5A5502952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948" y="326066"/>
            <a:ext cx="10515600" cy="3102935"/>
          </a:xfrm>
          <a:prstGeom prst="rect">
            <a:avLst/>
          </a:prstGeom>
        </p:spPr>
        <p:txBody>
          <a:bodyPr/>
          <a:lstStyle>
            <a:lvl1pPr>
              <a:defRPr sz="9600" b="1"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A207B9-1364-4BEE-9442-FB1C2F89B7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0948" y="3910212"/>
            <a:ext cx="10515600" cy="960801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D2ABC5F-BF6D-4627-96BB-0F1F89C800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948" y="5168443"/>
            <a:ext cx="10515600" cy="767655"/>
          </a:xfrm>
        </p:spPr>
        <p:txBody>
          <a:bodyPr/>
          <a:lstStyle>
            <a:lvl1pPr>
              <a:defRPr sz="4267" b="0">
                <a:latin typeface="+mn-lt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Month, Year</a:t>
            </a:r>
          </a:p>
        </p:txBody>
      </p:sp>
    </p:spTree>
    <p:extLst>
      <p:ext uri="{BB962C8B-B14F-4D97-AF65-F5344CB8AC3E}">
        <p14:creationId xmlns:p14="http://schemas.microsoft.com/office/powerpoint/2010/main" val="41615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ple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FEF2EA-1063-4E84-98D8-1EC3C0F80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842" y="436522"/>
            <a:ext cx="10972319" cy="1325033"/>
          </a:xfrm>
          <a:prstGeom prst="rect">
            <a:avLst/>
          </a:prstGeom>
        </p:spPr>
        <p:txBody>
          <a:bodyPr/>
          <a:lstStyle>
            <a:lvl1pPr>
              <a:defRPr sz="5333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628A8322-546D-4F39-A2EF-5E9FF2B148A5}"/>
              </a:ext>
            </a:extLst>
          </p:cNvPr>
          <p:cNvSpPr txBox="1">
            <a:spLocks noGrp="1"/>
          </p:cNvSpPr>
          <p:nvPr>
            <p:ph idx="1" hasCustomPrompt="1"/>
          </p:nvPr>
        </p:nvSpPr>
        <p:spPr>
          <a:xfrm>
            <a:off x="609842" y="2900863"/>
            <a:ext cx="10972319" cy="105627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 sz="4267" b="0" i="0"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pPr lvl="0"/>
            <a:r>
              <a:rPr lang="en-US"/>
              <a:t>Key points here</a:t>
            </a:r>
          </a:p>
        </p:txBody>
      </p:sp>
    </p:spTree>
    <p:extLst>
      <p:ext uri="{BB962C8B-B14F-4D97-AF65-F5344CB8AC3E}">
        <p14:creationId xmlns:p14="http://schemas.microsoft.com/office/powerpoint/2010/main" val="155405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/>
          <p:cNvSpPr>
            <a:spLocks noChangeArrowheads="1"/>
          </p:cNvSpPr>
          <p:nvPr/>
        </p:nvSpPr>
        <p:spPr bwMode="auto">
          <a:xfrm flipV="1">
            <a:off x="599024" y="1528763"/>
            <a:ext cx="8157633" cy="2159000"/>
          </a:xfrm>
          <a:prstGeom prst="roundRect">
            <a:avLst>
              <a:gd name="adj" fmla="val 4407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863600" y="1676400"/>
            <a:ext cx="7620000" cy="990600"/>
          </a:xfrm>
        </p:spPr>
        <p:txBody>
          <a:bodyPr anchor="t"/>
          <a:lstStyle>
            <a:lvl1pPr>
              <a:defRPr sz="35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63600" y="2895600"/>
            <a:ext cx="4876800" cy="381000"/>
          </a:xfrm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571FC-6E97-69EA-31EF-4F7396B129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3600" y="402288"/>
            <a:ext cx="3303217" cy="89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683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FCFCEEC5-67CA-4272-919E-2E502A95A6FE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A183B-5DF8-4406-9621-B39A6E1A71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19800" y="215420"/>
            <a:ext cx="3009928" cy="9073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22FE96-DF01-76CB-8572-FE4BAB9BB4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555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5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2FD071D1-C257-4411-BCB5-DDE8BB66ADF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77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3604" y="1798639"/>
            <a:ext cx="5056717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3522" y="1798639"/>
            <a:ext cx="5056716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44564EAE-6637-4EC4-8C68-689B1FCD9011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1266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7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04" y="1535117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04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C0C02A37-90C6-49D3-9CE4-7926A30ADE7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93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1FF9A2A7-9E3D-44C9-AA5C-CC50684E6DCB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38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083F09F2-4EC6-4996-A85C-C1EEBBFA2B5F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44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1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6" y="27306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6AB1A26-5300-4A38-B5C0-8ACF468E7C59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74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4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85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3B662AF6-AAE4-42C9-8986-FEF3512836A0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010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2182DD6-5549-472D-B678-26399E91FF0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65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02151" y="485777"/>
            <a:ext cx="2578100" cy="56308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3600" y="485777"/>
            <a:ext cx="7535333" cy="56308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DCFA066C-E3F3-4F01-8F4F-8C3D567BF014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83118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360000"/>
          <a:lstStyle>
            <a:lvl1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865DC7C-F426-468E-B030-762A2788DB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60000"/>
            <a:ext cx="121920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0000" tIns="0" rIns="54000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3E988D48-59F3-167F-7C35-FE39A3CF78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  <a:prstGeom prst="rect">
            <a:avLst/>
          </a:prstGeom>
        </p:spPr>
        <p:txBody>
          <a:bodyPr rIns="360000" bIns="18000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26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524" y="413735"/>
            <a:ext cx="3158080" cy="568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66D4E3-6C95-AE46-B9CF-75212832F104}"/>
              </a:ext>
            </a:extLst>
          </p:cNvPr>
          <p:cNvSpPr/>
          <p:nvPr userDrawn="1"/>
        </p:nvSpPr>
        <p:spPr bwMode="auto">
          <a:xfrm>
            <a:off x="0" y="1518720"/>
            <a:ext cx="11543253" cy="533928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3EB19-7CAA-9B48-A916-E921534402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8320" y="1518720"/>
            <a:ext cx="524933" cy="3937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C9E5E88-27D7-6849-830C-AE393F08A0D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95643" y="1518723"/>
            <a:ext cx="5641644" cy="1174819"/>
          </a:xfrm>
          <a:solidFill>
            <a:srgbClr val="660066"/>
          </a:solidFill>
        </p:spPr>
        <p:txBody>
          <a:bodyPr lIns="180000" tIns="180000"/>
          <a:lstStyle>
            <a:lvl1pPr>
              <a:defRPr sz="1600" b="0">
                <a:solidFill>
                  <a:srgbClr val="C29BFF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Slide </a:t>
            </a:r>
          </a:p>
          <a:p>
            <a:pPr lvl="0"/>
            <a:r>
              <a:rPr lang="en-US"/>
              <a:t>[Name]</a:t>
            </a:r>
            <a:br>
              <a:rPr lang="en-US"/>
            </a:br>
            <a:r>
              <a:rPr lang="en-US"/>
              <a:t xml:space="preserve">[Job title] 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0CDBEF-5AAB-3B40-9D90-5E89AFE0F7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629617" y="5207444"/>
            <a:ext cx="5204321" cy="95411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31CFFC6-A22C-D643-BE1F-D2386E9B1A0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335442" y="4737618"/>
            <a:ext cx="997065" cy="1144196"/>
          </a:xfrm>
          <a:noFill/>
        </p:spPr>
        <p:txBody>
          <a:bodyPr lIns="180000" tIns="180000"/>
          <a:lstStyle>
            <a:lvl1pPr>
              <a:defRPr sz="1600" b="0">
                <a:solidFill>
                  <a:schemeClr val="bg1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218F89-9314-B642-9131-CB490102C6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480885" y="413735"/>
            <a:ext cx="2062369" cy="5578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 rot="16200000">
            <a:off x="11083641" y="1452806"/>
            <a:ext cx="394294" cy="52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28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C19B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C0742A-22EB-4940-98D3-FE5D39DC6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1176001" y="932923"/>
            <a:ext cx="393700" cy="524933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8077B7-D960-3547-97E3-57D6BA72BA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08"/>
            <a:ext cx="1058108" cy="1890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E0EE354-27E3-B441-B236-000DD65D865C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45925" y="1798638"/>
            <a:ext cx="7934311" cy="4318000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</a:lstStyle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40C31F-5DBA-0044-B3DE-D0C888D6C8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3602" y="485775"/>
            <a:ext cx="7437967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Agenda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267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568429" y="646770"/>
            <a:ext cx="11066888" cy="5601630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28BB7C3-B75E-CF48-A217-C95B758F13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53122" y="1207621"/>
            <a:ext cx="6139364" cy="492736"/>
          </a:xfrm>
        </p:spPr>
        <p:txBody>
          <a:bodyPr/>
          <a:lstStyle>
            <a:lvl1pPr>
              <a:defRPr sz="2800" b="1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Vision</a:t>
            </a:r>
            <a:endParaRPr lang="en-GB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A3D5CA7-31E5-D849-A75C-F9C87CDAB09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053122" y="1776336"/>
            <a:ext cx="5741689" cy="2438826"/>
          </a:xfrm>
        </p:spPr>
        <p:txBody>
          <a:bodyPr/>
          <a:lstStyle>
            <a:lvl1pPr>
              <a:lnSpc>
                <a:spcPct val="100000"/>
              </a:lnSpc>
              <a:defRPr sz="2600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A world-class regulator, </a:t>
            </a:r>
            <a:br>
              <a:rPr lang="en-US"/>
            </a:br>
            <a:r>
              <a:rPr lang="en-US"/>
              <a:t xml:space="preserve">able to drive improvements in how people experience health and care services, </a:t>
            </a:r>
            <a:br>
              <a:rPr lang="en-US"/>
            </a:br>
            <a:r>
              <a:rPr lang="en-US"/>
              <a:t>working together for a safer future.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88714B-2798-8547-8158-FD447CFA2A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568431" y="646770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F8851E-36F7-E040-AC89-C89DE0FDF1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7270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09922C-F98D-444D-84ED-1DF586FA74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7286"/>
            <a:ext cx="524933" cy="39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12F273-87BA-AC4D-B9FC-82E0FC4576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08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Putting in place the systems and processes we need </a:t>
            </a:r>
            <a:br>
              <a:rPr lang="en-US"/>
            </a:br>
            <a:r>
              <a:rPr lang="en-US"/>
              <a:t xml:space="preserve">to make our transformation </a:t>
            </a:r>
            <a:br>
              <a:rPr lang="en-US"/>
            </a:br>
            <a:r>
              <a:rPr lang="en-US"/>
              <a:t>a reality</a:t>
            </a:r>
            <a:br>
              <a:rPr lang="en-US"/>
            </a:br>
            <a:br>
              <a:rPr lang="en-US"/>
            </a:br>
            <a:br>
              <a:rPr lang="en-US"/>
            </a:br>
            <a:endParaRPr lang="en-US" altLang="en-US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04E1C7-AF83-FC47-B08D-0A5A1E8C64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46363"/>
            <a:ext cx="3009677" cy="225725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8"/>
            <a:ext cx="5946273" cy="111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 kern="0"/>
              <a:t>Building foundations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Digital foundations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Intelligence-driven enablers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Regulatory platform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11E48-291A-3D49-9580-1E70065255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6" y="5403888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26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B6211D-A5C0-3D4B-AA57-DFBD53D34D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42EECD-2C34-0949-9FBE-A7BA64BE98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1" y="1791776"/>
            <a:ext cx="2764263" cy="21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474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141E9-A698-C543-A872-DE733093AE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1053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Pink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Adapting how we do things </a:t>
            </a:r>
            <a:br>
              <a:rPr lang="en-US"/>
            </a:br>
            <a:r>
              <a:rPr lang="en-US"/>
              <a:t>so we can remain relevant and protect people in a rapidly changing world.</a:t>
            </a:r>
            <a:endParaRPr lang="en-US" altLang="en-US" noProof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6"/>
            <a:ext cx="5946273" cy="650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/>
              <a:t>Adapting and evolving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Registration transformation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Improving regulation today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Quality improvement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5006DE-2BE5-B043-8338-1ED2FF704E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7DD-1E0B-6948-B9AD-CE1EFE010D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58063"/>
            <a:ext cx="3009677" cy="22572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BC9971-07DD-674C-ADD5-EA1ED7BA37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4" y="5403885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285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cket Pink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F74D29-A2DB-9241-B7A2-A40828B134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EF3464-C6EE-2C4F-8224-E4FC62031A3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1798638"/>
            <a:ext cx="2755432" cy="21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427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8962C0-D0DE-6F46-A32B-640D9C4E6F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073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Transforming how we regulate and </a:t>
            </a:r>
            <a:r>
              <a:rPr lang="en-US" err="1"/>
              <a:t>organise</a:t>
            </a:r>
            <a:r>
              <a:rPr lang="en-US"/>
              <a:t xml:space="preserve"> our work to achieve our vision and deliver our strategy.</a:t>
            </a:r>
            <a:endParaRPr lang="en-US" altLang="en-US" noProof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Transforming our organization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Future strategy development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Our people plan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5403887"/>
            <a:ext cx="524933" cy="39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F3E8B5-41F5-8C4F-ABF0-6D8EE2545C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5" y="658063"/>
            <a:ext cx="2681348" cy="225725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B2E666-A5FC-D548-83F8-F79E45EAE1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3601" y="1795128"/>
            <a:ext cx="2589175" cy="21791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357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998538"/>
          </a:xfrm>
          <a:prstGeom prst="rect">
            <a:avLst/>
          </a:prstGeom>
          <a:solidFill>
            <a:srgbClr val="5F286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604838"/>
            <a:ext cx="524933" cy="3937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537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39370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9797"/>
            <a:ext cx="514349" cy="38576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302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244934-A730-414F-BC2C-3F311839C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4119626" y="0"/>
            <a:ext cx="810895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396745-2908-EF49-89F9-6B575BC576BE}"/>
              </a:ext>
            </a:extLst>
          </p:cNvPr>
          <p:cNvSpPr/>
          <p:nvPr userDrawn="1"/>
        </p:nvSpPr>
        <p:spPr>
          <a:xfrm>
            <a:off x="0" y="0"/>
            <a:ext cx="4553712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7008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ck slid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8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5364162" cy="596034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392382"/>
            <a:ext cx="5364162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8521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171450"/>
            <a:ext cx="5364162" cy="45405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31838" y="549275"/>
            <a:ext cx="7174152" cy="38237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8773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165" y="1519992"/>
            <a:ext cx="4318362" cy="3781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964238" y="0"/>
            <a:ext cx="6227762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4329689" cy="81369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5413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232525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1114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465763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98608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41886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90099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7658100" y="676275"/>
            <a:ext cx="3802063" cy="47037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2097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6812566" y="0"/>
            <a:ext cx="5379434" cy="619866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7383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7860630" cy="619866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958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40AB7-5DAF-4C41-BCE8-32CFA6BA53A8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9192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and three text box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345769-1922-3841-9FA6-D5EC31A27582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4294967295"/>
          </p:nvPr>
        </p:nvSpPr>
        <p:spPr>
          <a:xfrm>
            <a:off x="738188" y="1552575"/>
            <a:ext cx="3322637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2" name="Picture Placeholder 4"/>
          <p:cNvSpPr>
            <a:spLocks noGrp="1"/>
          </p:cNvSpPr>
          <p:nvPr>
            <p:ph type="pic" sz="quarter" idx="4294967295"/>
          </p:nvPr>
        </p:nvSpPr>
        <p:spPr>
          <a:xfrm>
            <a:off x="4449322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3" name="Picture Placeholder 5"/>
          <p:cNvSpPr>
            <a:spLocks noGrp="1"/>
          </p:cNvSpPr>
          <p:nvPr>
            <p:ph type="pic" sz="quarter" idx="4294967295"/>
          </p:nvPr>
        </p:nvSpPr>
        <p:spPr>
          <a:xfrm>
            <a:off x="8144465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5210876" y="2773184"/>
            <a:ext cx="1777270" cy="3315693"/>
            <a:chOff x="1898617" y="2097848"/>
            <a:chExt cx="1777270" cy="29054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8913682" y="2773185"/>
            <a:ext cx="1777270" cy="3315693"/>
            <a:chOff x="1898617" y="2097848"/>
            <a:chExt cx="1777270" cy="29054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1508705" y="2773185"/>
            <a:ext cx="1777270" cy="3315693"/>
            <a:chOff x="1898617" y="2097848"/>
            <a:chExt cx="1777270" cy="29054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035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9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696101"/>
      </p:ext>
    </p:extLst>
  </p:cSld>
  <p:clrMapOvr>
    <a:masterClrMapping/>
  </p:clrMapOvr>
  <p:hf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4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4770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6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46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3" name="Rectangle 22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9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20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98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t Grey 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BB8B3D-9990-D648-B91B-15C14C7D7A4D}"/>
              </a:ext>
            </a:extLst>
          </p:cNvPr>
          <p:cNvSpPr/>
          <p:nvPr userDrawn="1"/>
        </p:nvSpPr>
        <p:spPr>
          <a:xfrm>
            <a:off x="0" y="0"/>
            <a:ext cx="4828674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75A97C-00F5-9140-A2C1-DFE7F361E3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r="4045"/>
          <a:stretch/>
        </p:blipFill>
        <p:spPr>
          <a:xfrm rot="10800000">
            <a:off x="4668000" y="0"/>
            <a:ext cx="7524000" cy="685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1C0A596-6150-5F4C-B92A-770135B4F7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45579" y="6385125"/>
            <a:ext cx="2105309" cy="2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0521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8B2915-0FA5-3A44-9E2B-F2AED19EA6A4}"/>
              </a:ext>
            </a:extLst>
          </p:cNvPr>
          <p:cNvSpPr/>
          <p:nvPr userDrawn="1"/>
        </p:nvSpPr>
        <p:spPr>
          <a:xfrm>
            <a:off x="0" y="0"/>
            <a:ext cx="4818303" cy="6206836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9196AC-0C9B-2D4A-8050-46C93878E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t="9584" r="4045"/>
          <a:stretch/>
        </p:blipFill>
        <p:spPr>
          <a:xfrm rot="10800000">
            <a:off x="4812585" y="0"/>
            <a:ext cx="7531356" cy="620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9621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with quot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963478" y="0"/>
            <a:ext cx="6228522" cy="42671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E562E-D80A-D34F-A20D-E562F27B7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8913" t="60459" b="17100"/>
          <a:stretch/>
        </p:blipFill>
        <p:spPr>
          <a:xfrm>
            <a:off x="5963478" y="4267200"/>
            <a:ext cx="6228522" cy="193357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987FD-F1F6-3B4E-A599-5B5EBB66FE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4238" y="-1"/>
            <a:ext cx="6227762" cy="42672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7969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2830109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" y="-808"/>
            <a:ext cx="2639967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0109" y="-808"/>
            <a:ext cx="2639961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-6" y="3278038"/>
            <a:ext cx="5470076" cy="2915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" y="3278038"/>
            <a:ext cx="5459413" cy="29157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30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-6" y="3125268"/>
            <a:ext cx="5470076" cy="3068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657" y="3125268"/>
            <a:ext cx="5459413" cy="30684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6" y="11749"/>
            <a:ext cx="5470076" cy="31135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" y="11749"/>
            <a:ext cx="5470076" cy="311351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2499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rrower quote (centre)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8743280" y="0"/>
            <a:ext cx="3448720" cy="62065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3269C-FA92-594D-83DF-AFB2F425F739}"/>
              </a:ext>
            </a:extLst>
          </p:cNvPr>
          <p:cNvSpPr/>
          <p:nvPr userDrawn="1"/>
        </p:nvSpPr>
        <p:spPr>
          <a:xfrm rot="5400000" flipV="1">
            <a:off x="3960452" y="1423770"/>
            <a:ext cx="6206591" cy="3359065"/>
          </a:xfrm>
          <a:prstGeom prst="rect">
            <a:avLst/>
          </a:prstGeom>
          <a:solidFill>
            <a:srgbClr val="FF5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14B6207-D3E5-5E49-8A9E-336B9F442D26}"/>
              </a:ext>
            </a:extLst>
          </p:cNvPr>
          <p:cNvSpPr txBox="1">
            <a:spLocks/>
          </p:cNvSpPr>
          <p:nvPr userDrawn="1"/>
        </p:nvSpPr>
        <p:spPr>
          <a:xfrm>
            <a:off x="5384215" y="403271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B785E78-7122-7F47-A3BC-E908A6C58B7B}"/>
              </a:ext>
            </a:extLst>
          </p:cNvPr>
          <p:cNvSpPr txBox="1">
            <a:spLocks/>
          </p:cNvSpPr>
          <p:nvPr userDrawn="1"/>
        </p:nvSpPr>
        <p:spPr>
          <a:xfrm rot="10800000">
            <a:off x="7025196" y="5179257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EFBFA1F-55C2-C34B-8AE6-440B090C15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43950" y="0"/>
            <a:ext cx="3448050" cy="62065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500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p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B653995-BE0A-BB49-9CEE-F4600F4B924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9738" y="1258888"/>
            <a:ext cx="25050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B2975-55E1-614D-B255-F942C9ED41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61300" y="655981"/>
            <a:ext cx="3522050" cy="4680620"/>
          </a:xfrm>
          <a:prstGeom prst="rect">
            <a:avLst/>
          </a:prstGeom>
        </p:spPr>
      </p:pic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2119546-9882-2545-870F-CA60FFC13BE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64100" y="1258888"/>
            <a:ext cx="25177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4464FC-C76A-9F40-BE13-A423746334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34975" y="655981"/>
            <a:ext cx="3522050" cy="468062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FB1B4C5-5DA2-7449-9DB8-B6891EF5B5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70850" y="1258888"/>
            <a:ext cx="2478088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315BD6-32B2-EB42-BC63-2776CCCFA1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8650" y="655981"/>
            <a:ext cx="3522050" cy="468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1930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7346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5743575" y="981075"/>
            <a:ext cx="5400675" cy="41624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2476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1"/>
          </p:nvPr>
        </p:nvSpPr>
        <p:spPr>
          <a:xfrm>
            <a:off x="4562763" y="1172726"/>
            <a:ext cx="6816436" cy="3713307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10485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2.png"/></Relationships>
</file>

<file path=ppt/slideMasters/_rels/slideMaster3.xml.rels><?xml version="1.0" encoding="UTF-8"?>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53.xml"/><Relationship Id="rId21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48.xml"/><Relationship Id="rId42" Type="http://schemas.openxmlformats.org/officeDocument/2006/relationships/slideLayout" Target="../slideLayouts/slideLayout56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55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38.xml"/><Relationship Id="rId32" Type="http://schemas.openxmlformats.org/officeDocument/2006/relationships/slideLayout" Target="../slideLayouts/slideLayout46.xml"/><Relationship Id="rId37" Type="http://schemas.openxmlformats.org/officeDocument/2006/relationships/slideLayout" Target="../slideLayouts/slideLayout51.xml"/><Relationship Id="rId40" Type="http://schemas.openxmlformats.org/officeDocument/2006/relationships/slideLayout" Target="../slideLayouts/slideLayout54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slideLayout" Target="../slideLayouts/slideLayout37.xml"/><Relationship Id="rId28" Type="http://schemas.openxmlformats.org/officeDocument/2006/relationships/slideLayout" Target="../slideLayouts/slideLayout42.xml"/><Relationship Id="rId36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45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slideLayout" Target="../slideLayouts/slideLayout41.xml"/><Relationship Id="rId30" Type="http://schemas.openxmlformats.org/officeDocument/2006/relationships/slideLayout" Target="../slideLayouts/slideLayout44.xml"/><Relationship Id="rId35" Type="http://schemas.openxmlformats.org/officeDocument/2006/relationships/slideLayout" Target="../slideLayouts/slideLayout49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slideLayout" Target="../slideLayouts/slideLayout39.xml"/><Relationship Id="rId33" Type="http://schemas.openxmlformats.org/officeDocument/2006/relationships/slideLayout" Target="../slideLayouts/slideLayout47.xml"/><Relationship Id="rId38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8"/>
          <p:cNvSpPr txBox="1">
            <a:spLocks noGrp="1"/>
          </p:cNvSpPr>
          <p:nvPr>
            <p:ph type="body" idx="1"/>
          </p:nvPr>
        </p:nvSpPr>
        <p:spPr>
          <a:xfrm>
            <a:off x="609601" y="1604639"/>
            <a:ext cx="10972319" cy="39772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GB"/>
              <a:t>Key points here</a:t>
            </a:r>
            <a:br>
              <a:rPr lang="en-GB"/>
            </a:br>
            <a:r>
              <a:rPr lang="en-GB"/>
              <a:t>(minimum font size 32)</a:t>
            </a:r>
            <a:endParaRPr/>
          </a:p>
        </p:txBody>
      </p:sp>
      <p:sp>
        <p:nvSpPr>
          <p:cNvPr id="5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" y="6309321"/>
            <a:ext cx="12192000" cy="561879"/>
          </a:xfrm>
          <a:prstGeom prst="rect">
            <a:avLst/>
          </a:prstGeom>
          <a:solidFill>
            <a:srgbClr val="5F2861"/>
          </a:solidFill>
          <a:ln>
            <a:noFill/>
          </a:ln>
        </p:spPr>
        <p:txBody>
          <a:bodyPr lIns="121900" tIns="121900" rIns="121900" bIns="121900" anchor="ctr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 sz="2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978B9-95F6-4A52-A7AD-8F58E3352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6405331"/>
            <a:ext cx="1344149" cy="42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45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5333" b="1" i="0" u="none" strike="noStrike" cap="none" baseline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>
            <a:spLocks noChangeArrowheads="1"/>
          </p:cNvSpPr>
          <p:nvPr/>
        </p:nvSpPr>
        <p:spPr bwMode="auto">
          <a:xfrm>
            <a:off x="599018" y="181853"/>
            <a:ext cx="11036300" cy="990600"/>
          </a:xfrm>
          <a:prstGeom prst="roundRect">
            <a:avLst>
              <a:gd name="adj" fmla="val 7213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863601" y="209749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8" y="1798639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rgbClr val="5F2861"/>
                </a:solidFill>
                <a:latin typeface="Arial" charset="0"/>
                <a:ea typeface="+mn-ea"/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C3F15FF-8B87-4F38-BB80-08F00F8C711F}" type="slidenum">
              <a:rPr lang="en-US"/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E7C560-497B-84B8-CBCE-DC4E4A119AF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46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hd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+mj-lt"/>
          <a:ea typeface="MS PGothic" pitchFamily="34" charset="-128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9pPr>
    </p:titleStyle>
    <p:bodyStyle>
      <a:lvl1pPr marL="342900" indent="-342900"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>
            <a:extLst>
              <a:ext uri="{FF2B5EF4-FFF2-40B4-BE49-F238E27FC236}">
                <a16:creationId xmlns:a16="http://schemas.microsoft.com/office/drawing/2014/main" id="{D11F4C20-99BA-4187-8614-954C46598D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63602" y="485775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2812BB5-45E6-46F9-BDE4-3BFE09189D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2" y="1798638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6BED93E-75C8-4249-8916-80F902747CA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1" i="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</a:lstStyle>
          <a:p>
            <a:fld id="{4DFC6EE9-55D9-4100-8598-B06FF930A43B}" type="slidenum">
              <a:rPr lang="en-US" altLang="en-US" smtClean="0"/>
              <a:pPr/>
              <a:t>‹#›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23116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</p:sldLayoutIdLs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9pPr>
    </p:titleStyle>
    <p:bodyStyle>
      <a:lvl1pPr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anose="020B0604020202020204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96E8-DFEC-4D88-8859-0FA44E5C5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948" y="326066"/>
            <a:ext cx="10925504" cy="3406838"/>
          </a:xfrm>
          <a:solidFill>
            <a:srgbClr val="660066"/>
          </a:solidFill>
        </p:spPr>
        <p:txBody>
          <a:bodyPr/>
          <a:lstStyle/>
          <a:p>
            <a:br>
              <a:rPr lang="en-GB" sz="2400">
                <a:solidFill>
                  <a:schemeClr val="bg1"/>
                </a:solidFill>
              </a:rPr>
            </a:br>
            <a:r>
              <a:rPr lang="en-GB" sz="2800" b="1">
                <a:solidFill>
                  <a:schemeClr val="bg1"/>
                </a:solidFill>
              </a:rPr>
              <a:t>CQC Architecture Governance</a:t>
            </a:r>
            <a:br>
              <a:rPr lang="en-GB" sz="2800" b="1">
                <a:solidFill>
                  <a:schemeClr val="bg1"/>
                </a:solidFill>
              </a:rPr>
            </a:br>
            <a:br>
              <a:rPr lang="en-GB" sz="2800">
                <a:solidFill>
                  <a:schemeClr val="bg1"/>
                </a:solidFill>
                <a:cs typeface="Arial"/>
              </a:rPr>
            </a:br>
            <a:r>
              <a:rPr lang="en-GB" sz="2800">
                <a:solidFill>
                  <a:schemeClr val="bg1"/>
                </a:solidFill>
                <a:cs typeface="Arial"/>
              </a:rPr>
              <a:t>Architecture Vision Paper</a:t>
            </a:r>
            <a:br>
              <a:rPr lang="en-GB" sz="1800">
                <a:solidFill>
                  <a:schemeClr val="bg1"/>
                </a:solidFill>
                <a:cs typeface="Arial"/>
              </a:rPr>
            </a:br>
            <a:br>
              <a:rPr lang="en-GB" sz="1800" b="1">
                <a:solidFill>
                  <a:schemeClr val="bg1"/>
                </a:solidFill>
              </a:rPr>
            </a:br>
            <a:r>
              <a:rPr lang="en-GB" sz="2800">
                <a:solidFill>
                  <a:schemeClr val="bg1"/>
                </a:solidFill>
              </a:rPr>
              <a:t>[Initiative / Capability Name]</a:t>
            </a:r>
            <a:br>
              <a:rPr lang="en-GB" sz="1800" b="1">
                <a:solidFill>
                  <a:schemeClr val="bg1"/>
                </a:solidFill>
              </a:rPr>
            </a:br>
            <a:br>
              <a:rPr lang="en-GB" sz="1800">
                <a:solidFill>
                  <a:schemeClr val="bg1"/>
                </a:solidFill>
              </a:rPr>
            </a:br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26FA6-153B-3825-29E3-DF18D02B66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0948" y="3910212"/>
            <a:ext cx="10925504" cy="960801"/>
          </a:xfrm>
        </p:spPr>
        <p:txBody>
          <a:bodyPr/>
          <a:lstStyle/>
          <a:p>
            <a:r>
              <a:rPr lang="en-GB" sz="2000" b="1"/>
              <a:t>[Author name]</a:t>
            </a:r>
          </a:p>
          <a:p>
            <a:r>
              <a:rPr lang="en-GB" sz="2000" b="1"/>
              <a:t>[Role / Job title]</a:t>
            </a:r>
          </a:p>
        </p:txBody>
      </p:sp>
    </p:spTree>
    <p:extLst>
      <p:ext uri="{BB962C8B-B14F-4D97-AF65-F5344CB8AC3E}">
        <p14:creationId xmlns:p14="http://schemas.microsoft.com/office/powerpoint/2010/main" val="4126488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Version Control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23206"/>
              </p:ext>
            </p:extLst>
          </p:nvPr>
        </p:nvGraphicFramePr>
        <p:xfrm>
          <a:off x="680721" y="1260001"/>
          <a:ext cx="10942319" cy="2156779"/>
        </p:xfrm>
        <a:graphic>
          <a:graphicData uri="http://schemas.openxmlformats.org/drawingml/2006/table">
            <a:tbl>
              <a:tblPr firstRow="1" bandRow="1"/>
              <a:tblGrid>
                <a:gridCol w="808745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4660032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1471018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4002524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Version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Author (A) / Reviewers (R) / Consult (C)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Date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Comments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0.1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[Author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[DD/MM/YYYY]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DF0DA5-E172-B958-9B16-37C6271ABE49}"/>
              </a:ext>
            </a:extLst>
          </p:cNvPr>
          <p:cNvSpPr txBox="1"/>
          <p:nvPr/>
        </p:nvSpPr>
        <p:spPr>
          <a:xfrm>
            <a:off x="627802" y="1352001"/>
            <a:ext cx="11078635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 xml:space="preserve">This document is </a:t>
            </a:r>
            <a:r>
              <a:rPr lang="en-GB" altLang="en-US" sz="1200" b="1" bmk="_Toc247988889">
                <a:solidFill>
                  <a:srgbClr val="000000"/>
                </a:solidFill>
                <a:latin typeface="Arial"/>
                <a:ea typeface="Calibri"/>
                <a:cs typeface="Arial"/>
              </a:rPr>
              <a:t>reviewed</a:t>
            </a:r>
            <a:r>
              <a:rPr kumimoji="0" lang="en-GB" altLang="en-US" sz="1200" b="1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 xml:space="preserve"> by</a:t>
            </a: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:</a:t>
            </a:r>
            <a:endParaRPr kumimoji="0" lang="en-GB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FB8DF-EB23-9C94-367D-FE93AD5C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>
                <a:solidFill>
                  <a:schemeClr val="bg1">
                    <a:lumMod val="95000"/>
                  </a:schemeClr>
                </a:solidFill>
                <a:cs typeface="Arial"/>
              </a:rPr>
              <a:t>Architecture Assurance – Review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37A27-75C5-A6DE-223D-78B6F53C57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DDAC0-1426-DBEA-A19C-7D6F6890B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275224"/>
              </p:ext>
            </p:extLst>
          </p:nvPr>
        </p:nvGraphicFramePr>
        <p:xfrm>
          <a:off x="627802" y="1948661"/>
          <a:ext cx="9172932" cy="669582"/>
        </p:xfrm>
        <a:graphic>
          <a:graphicData uri="http://schemas.openxmlformats.org/drawingml/2006/table">
            <a:tbl>
              <a:tblPr firstRow="1" firstCol="1" bandRow="1"/>
              <a:tblGrid>
                <a:gridCol w="1775595">
                  <a:extLst>
                    <a:ext uri="{9D8B030D-6E8A-4147-A177-3AD203B41FA5}">
                      <a16:colId xmlns:a16="http://schemas.microsoft.com/office/drawing/2014/main" val="3333872984"/>
                    </a:ext>
                  </a:extLst>
                </a:gridCol>
                <a:gridCol w="5419068">
                  <a:extLst>
                    <a:ext uri="{9D8B030D-6E8A-4147-A177-3AD203B41FA5}">
                      <a16:colId xmlns:a16="http://schemas.microsoft.com/office/drawing/2014/main" val="997251457"/>
                    </a:ext>
                  </a:extLst>
                </a:gridCol>
                <a:gridCol w="1099038">
                  <a:extLst>
                    <a:ext uri="{9D8B030D-6E8A-4147-A177-3AD203B41FA5}">
                      <a16:colId xmlns:a16="http://schemas.microsoft.com/office/drawing/2014/main" val="253615460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41484796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Role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Date of Review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Version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230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/>
                        <a:t>[Reviewer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[Role, e.g. Head of Architecture]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205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6354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306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Purpose &amp; Decision Sought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Purpose: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Set out the architecture vision for [initiative], describing the target capability, the value it delivers and the high level shape of the solution.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Give the Architecture Review Board enough context to endorse the direction before detailed design (HLD and LLD) begins.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Decision Sought: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Endorsement of the proposed target architecture vision and scope as the basis for the next phase of work.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direction the Board is being asked to approve.]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A8AD-9F52-A254-91B5-1C406CF98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0A51D-B6C1-2372-2CC9-FD5AAE6D1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63" y="244386"/>
            <a:ext cx="8638310" cy="773923"/>
          </a:xfrm>
        </p:spPr>
        <p:txBody>
          <a:bodyPr/>
          <a:lstStyle/>
          <a:p>
            <a:r>
              <a:rPr lang="en-GB" sz="2000">
                <a:solidFill>
                  <a:schemeClr val="bg1">
                    <a:lumMod val="95000"/>
                  </a:schemeClr>
                </a:solidFill>
                <a:cs typeface="Arial"/>
              </a:rPr>
              <a:t>Questions and Next Steps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7DD4F-C659-73DB-4BEE-FE10CB6FA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24FC84-351E-76D9-1394-9FCB077E9B24}"/>
              </a:ext>
            </a:extLst>
          </p:cNvPr>
          <p:cNvSpPr txBox="1"/>
          <p:nvPr/>
        </p:nvSpPr>
        <p:spPr>
          <a:xfrm>
            <a:off x="710536" y="1462227"/>
            <a:ext cx="10868890" cy="2400657"/>
          </a:xfrm>
          <a:prstGeom prst="rect">
            <a:avLst/>
          </a:prstGeom>
          <a:noFill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Questions?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Next steps: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[List the immediate next actions, owners and timescales.]</a:t>
            </a:r>
          </a:p>
        </p:txBody>
      </p:sp>
    </p:spTree>
    <p:extLst>
      <p:ext uri="{BB962C8B-B14F-4D97-AF65-F5344CB8AC3E}">
        <p14:creationId xmlns:p14="http://schemas.microsoft.com/office/powerpoint/2010/main" val="424247343"/>
      </p:ext>
    </p:extLst>
  </p:cSld>
  <p:clrMapOvr>
    <a:masterClrMapping/>
  </p:clrMapOvr>
  <p:extLst>
    <p:ext uri="{6950BFC3-D8DA-4A85-94F7-54DA5524770B}"/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AF39-C4AD-6616-FB59-B4FA8371E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6EE060-04EC-3504-58B8-94A947290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232" y="5137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Architecture Principles</a:t>
            </a:r>
            <a:endParaRPr lang="en-GB">
              <a:solidFill>
                <a:srgbClr val="FFFFFF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A8D7AF-0DA5-C49C-6A29-B389BCC13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410495"/>
              </p:ext>
            </p:extLst>
          </p:nvPr>
        </p:nvGraphicFramePr>
        <p:xfrm>
          <a:off x="65170" y="1219156"/>
          <a:ext cx="11572648" cy="505753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3049460607"/>
                    </a:ext>
                  </a:extLst>
                </a:gridCol>
                <a:gridCol w="7572648">
                  <a:extLst>
                    <a:ext uri="{9D8B030D-6E8A-4147-A177-3AD203B41FA5}">
                      <a16:colId xmlns:a16="http://schemas.microsoft.com/office/drawing/2014/main" val="3627008682"/>
                    </a:ext>
                  </a:extLst>
                </a:gridCol>
              </a:tblGrid>
              <a:tr h="693917">
                <a:tc>
                  <a:txBody>
                    <a:bodyPr/>
                    <a:lstStyle/>
                    <a:p>
                      <a:r>
                        <a:rPr lang="en-GB" sz="1200">
                          <a:latin typeface="+mj-lt"/>
                        </a:rPr>
                        <a:t>Principle</a:t>
                      </a:r>
                    </a:p>
                  </a:txBody>
                  <a:tcP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>
                          <a:latin typeface="+mj-lt"/>
                        </a:rPr>
                        <a:t>Rationale &amp; Implication</a:t>
                      </a:r>
                    </a:p>
                  </a:txBody>
                  <a:tcP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963424"/>
                  </a:ext>
                </a:extLst>
              </a:tr>
              <a:tr h="3798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Security and compliance by design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Solutions must meet CQC security, data protection and statutory retention obligations from the outset.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53952"/>
                  </a:ext>
                </a:extLst>
              </a:tr>
              <a:tr h="349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Reuse before buy, buy before build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Prefer existing CQC platforms and commercial arrangements before introducing new technology.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626397"/>
                  </a:ext>
                </a:extLst>
              </a:tr>
              <a:tr h="433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Cloud first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Host within the CQC Azure environment under standard governance unless there is a clear reason not to.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4638589"/>
                  </a:ext>
                </a:extLst>
              </a:tr>
              <a:tr h="3800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Data under CQC ownership and control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Maintain governance, auditability and data sovereignty, and avoid supplier lock in.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7922575"/>
                  </a:ext>
                </a:extLst>
              </a:tr>
              <a:tr h="49183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Supportability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Run only supported software with a clear lifecycle and a defined patching path.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659843"/>
                  </a:ext>
                </a:extLst>
              </a:tr>
              <a:tr h="433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[Principle]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[Rationale, and what it implies for design.]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0395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8116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Executive Summary &amp; Vision Statement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Vision statement: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[In one or two sentences, describe the future state capability and the outcome it enables, for example: provide a secure, supported and cost effective platform for X that meets statutory obligations.]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[What is changing, and why it matters now.]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expected benefit to CQC and to people who use services.]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recommended option at a glance.]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Business Context &amp; Drivers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Background: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[Summarise the current situation and how it arose.]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Drivers for change: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[Regulatory, security, compliance or statutory driver.]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[Cost, end of support or operational risk driver.]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[Strategic alignment, for example cloud first or the recovery and transformation programme.]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Scope, Assumptions &amp; Dependencies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 scope: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[Capabilities, systems or services covered by this vision.]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Out of scope: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[What is explicitly excluded, to manage expectations.]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Assumptions: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[Key assumptions the vision relies 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Dependencies: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[Other programmes, teams or decisions this depends on.]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Baseline Architecture (As-Is)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Current state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the systems, platforms and integrations in place today.]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[Note their support and lifecycle status, and any known constraints.]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Key issues with the baseline: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[Risks, gaps or limitations driving the need for change.]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Target Architecture (To-Be)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Target state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the future state capability and the major building blocks.]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[Reference the platforms and services that will deliver it.]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Key characteristics: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[Supportability, security, scalability and cost position.]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[How it aligns with CQC enterprise architecture and the roadmap.]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Diagram: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[Insert a high level logical architecture diagram here.]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Value Proposition &amp; Business Benefits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Value proposition: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core reason this vision is worth pursuing, in business terms.]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Expected benefits: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Cost: [for example reduced hosting, licensing or operational cost.]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Risk: [for example reduced security, compliance or continuity risk.]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Capability: [for example improved supportability, performance or user experience.]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Measures of success: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[How the benefit will be evidenced or measured.]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Risks, Assumptions, Issues &amp; Dependencies (RAID)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Risks: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[Risk, with likelihood, impact and proposed mitigation.]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Assumptions: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[Assumption to be validated.]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Issues: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[Known issue requiring resolution.]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Dependencies: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[Dependency on another team, system or decision.]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Indicative Roadmap &amp; Recommendation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Indicative roadmap: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Phase 1: [Discovery and design (HLD and LLD).]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Phase 2: [Build and test.]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Phase 3: [Deploy, transition to service and decommission legacy.]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[Restate the recommended direction and the decision the Board is asked to make.]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Stakeholders &amp; Concerns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23206"/>
              </p:ext>
            </p:extLst>
          </p:nvPr>
        </p:nvGraphicFramePr>
        <p:xfrm>
          <a:off x="680721" y="1260001"/>
          <a:ext cx="10942319" cy="2156779"/>
        </p:xfrm>
        <a:graphic>
          <a:graphicData uri="http://schemas.openxmlformats.org/drawingml/2006/table">
            <a:tbl>
              <a:tblPr firstRow="1" bandRow="1"/>
              <a:tblGrid>
                <a:gridCol w="2300000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3042319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Stakeholder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Role / Group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Key Concerns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Engagement Approach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[Stakeholder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[Role / group]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[Key concern]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Capability Gap Analysis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23206"/>
              </p:ext>
            </p:extLst>
          </p:nvPr>
        </p:nvGraphicFramePr>
        <p:xfrm>
          <a:off x="680721" y="1260001"/>
          <a:ext cx="10942319" cy="2156779"/>
        </p:xfrm>
        <a:graphic>
          <a:graphicData uri="http://schemas.openxmlformats.org/drawingml/2006/table">
            <a:tbl>
              <a:tblPr firstRow="1" bandRow="1"/>
              <a:tblGrid>
                <a:gridCol w="2600000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2942319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Capability / Domain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Baseline (As-Is)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Target (To-Be)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Required Change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[Capability]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[Current position]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[Target position]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theme/theme1.xml><?xml version="1.0" encoding="utf-8"?>
<a:theme xmlns:a="http://schemas.openxmlformats.org/drawingml/2006/main" name="GDS style presentation template (letterbox version)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5384C888-AC54-45D8-8A09-45E34B9E2D03}" vid="{0CD51092-7938-41E1-8020-29856681787F}"/>
    </a:ext>
  </a:extLst>
</a:theme>
</file>

<file path=ppt/theme/theme2.xml><?xml version="1.0" encoding="utf-8"?>
<a:theme xmlns:a="http://schemas.openxmlformats.org/drawingml/2006/main" name="4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>
            <a:alpha val="0"/>
          </a:schemeClr>
        </a:solidFill>
        <a:ln w="31750" cap="flat" cmpd="sng" algn="ctr">
          <a:solidFill>
            <a:srgbClr val="9966F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ln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5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MS PGothic"/>
        <a:cs typeface=""/>
      </a:majorFont>
      <a:minorFont>
        <a:latin typeface="Arial"/>
        <a:ea typeface="MS P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algn="l" defTabSz="914400">
          <a:defRPr sz="1600" kern="0" dirty="0"/>
        </a:defPPr>
      </a:lstStyle>
    </a:tx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0eecd4-aba3-40f3-8b86-bc57d5fd18ad">
      <Terms xmlns="http://schemas.microsoft.com/office/infopath/2007/PartnerControls"/>
    </lcf76f155ced4ddcb4097134ff3c332f>
    <TaxCatchAll xmlns="dbfe5f8b-f59e-45cf-99cb-d4e7f58164d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2579998B4ADA94FA9434ABBD8B47A21" ma:contentTypeVersion="15" ma:contentTypeDescription="Create a new document." ma:contentTypeScope="" ma:versionID="fcffa19096216a686974b623c6f3f213">
  <xsd:schema xmlns:xsd="http://www.w3.org/2001/XMLSchema" xmlns:xs="http://www.w3.org/2001/XMLSchema" xmlns:p="http://schemas.microsoft.com/office/2006/metadata/properties" xmlns:ns2="eb0eecd4-aba3-40f3-8b86-bc57d5fd18ad" xmlns:ns3="dbfe5f8b-f59e-45cf-99cb-d4e7f58164db" targetNamespace="http://schemas.microsoft.com/office/2006/metadata/properties" ma:root="true" ma:fieldsID="caf34c495af22cd99c484bdae5a5be2b" ns2:_="" ns3:_="">
    <xsd:import namespace="eb0eecd4-aba3-40f3-8b86-bc57d5fd18ad"/>
    <xsd:import namespace="dbfe5f8b-f59e-45cf-99cb-d4e7f58164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0eecd4-aba3-40f3-8b86-bc57d5fd18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8df9d8e5-705b-4129-800a-08ca17c575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fe5f8b-f59e-45cf-99cb-d4e7f58164d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6ba0c095-1585-407c-8912-0c9a5b85461b}" ma:internalName="TaxCatchAll" ma:showField="CatchAllData" ma:web="dbfe5f8b-f59e-45cf-99cb-d4e7f58164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39F88FE-CC7A-42BF-8A19-8912D18231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949FD7F-F664-493C-BB4A-F9CEFE39A547}">
  <ds:schemaRefs>
    <ds:schemaRef ds:uri="dbfe5f8b-f59e-45cf-99cb-d4e7f58164db"/>
    <ds:schemaRef ds:uri="eb0eecd4-aba3-40f3-8b86-bc57d5fd18a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7343009-74F6-4A54-A692-A3D436EF4730}">
  <ds:schemaRefs>
    <ds:schemaRef ds:uri="dbfe5f8b-f59e-45cf-99cb-d4e7f58164db"/>
    <ds:schemaRef ds:uri="eb0eecd4-aba3-40f3-8b86-bc57d5fd18a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2753</Words>
  <Application>Microsoft Office PowerPoint</Application>
  <PresentationFormat>Widescreen</PresentationFormat>
  <Paragraphs>253</Paragraphs>
  <Slides>16</Slides>
  <Notes>1</Notes>
  <HiddenSlides>7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Aptos</vt:lpstr>
      <vt:lpstr>Arial</vt:lpstr>
      <vt:lpstr>Calibri</vt:lpstr>
      <vt:lpstr>Courier New</vt:lpstr>
      <vt:lpstr>Wingdings</vt:lpstr>
      <vt:lpstr>Wingdings 2</vt:lpstr>
      <vt:lpstr>GDS style presentation template (letterbox version)</vt:lpstr>
      <vt:lpstr>4_20205_CQC_Template</vt:lpstr>
      <vt:lpstr>5_20205_CQC_Template</vt:lpstr>
      <vt:lpstr> CQC Architecture Governance  Architecture Options Paper  Red Hat OS Upgrade (MuleSoft)  </vt:lpstr>
      <vt:lpstr>Version Control</vt:lpstr>
      <vt:lpstr>Architecture Assurance – Review</vt:lpstr>
      <vt:lpstr>Purpose &amp; Decision Sought</vt:lpstr>
      <vt:lpstr>Background  </vt:lpstr>
      <vt:lpstr>Options Analysis &amp; Recommendation  </vt:lpstr>
      <vt:lpstr>Option 1 – Do Nothing – Continue to run Red Hat 6.2</vt:lpstr>
      <vt:lpstr>Option 2 – Upgrade to Red Hat 9</vt:lpstr>
      <vt:lpstr>Questions and Next Steps</vt:lpstr>
      <vt:lpstr>Business Requirements </vt:lpstr>
      <vt:lpstr>Background  </vt:lpstr>
      <vt:lpstr>Options Analysis &amp; Recommendation  </vt:lpstr>
      <vt:lpstr>Option 2 – Transfer the files to CQC and store in Azure File storage </vt:lpstr>
      <vt:lpstr>Option 3 – Transfer the files to CQC and store in the new document management system</vt:lpstr>
      <vt:lpstr>Option 3 - Transfer the files to CQC and store in the new document management system</vt:lpstr>
      <vt:lpstr>Option 2 - Transfer the files to CQC and store in Azure File storage   </vt:lpstr>
    </vt:vector>
  </TitlesOfParts>
  <Company>Care Quality Commission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 Bhatt</dc:creator>
  <cp:lastModifiedBy>David Garner</cp:lastModifiedBy>
  <cp:revision>2</cp:revision>
  <dcterms:created xsi:type="dcterms:W3CDTF">2025-05-22T10:07:50Z</dcterms:created>
  <dcterms:modified xsi:type="dcterms:W3CDTF">2026-06-25T15:55:38Z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0x01010052579998B4ADA94FA9434ABBD8B47A21</vt:lpwstr>
  </property>
  <property fmtid="{D5CDD505-2E9C-101B-9397-08002B2CF9AE}" pid="3" name="MediaServiceImageTags">
    <vt:lpwstr/>
  </property>
</Properties>
</file>